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157935</c:v>
                </c:pt>
                <c:pt idx="1">
                  <c:v>82175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3D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7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Rating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Blouse</c:v>
                  </c:pt>
                  <c:pt idx="1">
                    <c:v>Jewelry</c:v>
                  </c:pt>
                  <c:pt idx="2">
                    <c:v>Pants</c:v>
                  </c:pt>
                  <c:pt idx="3">
                    <c:v>Coat</c:v>
                  </c:pt>
                  <c:pt idx="4">
                    <c:v>Shorts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3.82</c:v>
                </c:pt>
                <c:pt idx="1">
                  <c:v>3.79</c:v>
                </c:pt>
                <c:pt idx="2">
                  <c:v>3.77</c:v>
                </c:pt>
                <c:pt idx="3">
                  <c:v>3.75</c:v>
                </c:pt>
                <c:pt idx="4">
                  <c:v>3.74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B3D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9"/>
          <c:min val="3.6"/>
        </c:scaling>
        <c:delete val="0"/>
        <c:axPos val="b"/>
        <c:majorGridlines>
          <c:spPr>
            <a:ln w="9525" cap="flat">
              <a:solidFill>
                <a:srgbClr val="DC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Express</c:v>
                  </c:pt>
                  <c:pt idx="1">
                    <c:v>Standard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60.49</c:v>
                </c:pt>
                <c:pt idx="1">
                  <c:v>59.14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100" u="none">
                  <a:solidFill>
                    <a:srgbClr val="0B3D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1.5"/>
          <c:min val="58"/>
        </c:scaling>
        <c:delete val="0"/>
        <c:axPos val="l"/>
        <c:majorGridlines>
          <c:spPr>
            <a:ln w="9525" cap="flat">
              <a:solidFill>
                <a:srgbClr val="DC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Buyers (&gt;5 purchases)</c:v>
                </c:pt>
              </c:strCache>
            </c:strRef>
          </c:tx>
          <c:spPr>
            <a:solidFill>
              <a:srgbClr val="212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Subscribed</c:v>
                  </c:pt>
                  <c:pt idx="1">
                    <c:v>Not 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979</c:v>
                </c:pt>
                <c:pt idx="1">
                  <c:v>1178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3D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Senior</c:v>
                  </c:pt>
                  <c:pt idx="1">
                    <c:v>Middle Age</c:v>
                  </c:pt>
                  <c:pt idx="2">
                    <c:v>Adult</c:v>
                  </c:pt>
                  <c:pt idx="3">
                    <c:v>Young Adult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62140</c:v>
                </c:pt>
                <c:pt idx="1">
                  <c:v>61890</c:v>
                </c:pt>
                <c:pt idx="2">
                  <c:v>61120</c:v>
                </c:pt>
                <c:pt idx="3">
                  <c:v>54970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3D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000"/>
        </c:scaling>
        <c:delete val="0"/>
        <c:axPos val="l"/>
        <c:majorGridlines>
          <c:spPr>
            <a:ln w="9525" cap="flat">
              <a:solidFill>
                <a:srgbClr val="DCE7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Frame this as a full pipeline: Python/Pandas cleaning, PostgreSQL SQL analysis, and a Power BI dashboard, built on a 3,900-row retail customer transaction dataset. Mention the date and that the goal is to turn raw transaction data into business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quickly: introduction, the dataset, the three project phases (Python cleaning, SQL analysis, Power BI dashboard), then findings and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this is a full pipeline project. Emphasize the three phases shown in the diagram, and that the dataset captures demographics, purchases, and service preferences used to drive business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scale: 3,900 rows, 18 original columns, one row per transaction. Walk through field categories: identifiers, demographics, purchase details, and service/loyalty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isnull().sum() checks before/after cleaning. Stress the category-wise median imputation as a more statistically sound choice than a global mean. Mention the column standardization was required for PostgreSQL compatibility, and the redundant column removal reduced schema footprint.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two engineered features used throughout the SQL and BI phases: age_group (quartile-based) and purchase_frequency_days (label-to-days mapping). Close with the successful export of the cleaned 3,900-row, 20-column table into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eight business questions. Each was driven by SELECT/GROUP BY/subquery patterns against the cleaned customer table. We'll walk through the most data-rich results on the following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SQL: SELECT gender, SUM(purchase_amount) GROUP BY gender. Male revenue ~$157,935 vs. Female ~$82,175. Note this likely reflects sample composition rather than per-customer spend differences — useful context for any marketing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uses a correlated subquery to compare each row against the overall average purchase amount ($59.76). Q6 groups discounted purchases by item to surface price-sensitive products — candidates for bundling rather than blanket discounting.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ranks items by AVG(review_rating) with ROUND()/numeric cast for clean decimals, limited to 5. Blouse leads at 3.82, followed closely by Jewelry, Pants, Coat, and Shorts — all comfortably above 3.7.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Q4: Express ($60.49) edges out Standard ($59.14) in average spend. Q5: despite fewer subscribers (1,756 vs 2,144), their per-order average ($59.25) is nearly identical to non-subscribers ($59.74) — the subscription program's revenue advantage comes from customer count, not bigger baskets.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filters previous_purchases &gt; 5 and groups by subscription_status. The near-even split (979 vs 1,178) shows that repeat purchasing behavior alone doesn't drive subscription conversion — a clear opportunity for a targeted loyalty-to-subscription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on the engineered age_group feature (quartile-based). Revenue is fairly close across Senior, Middle Age, and Adult groups (~$61-62K), with Young Adult trailing at ~$55K — a potential growth segment with the right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data connection (live PostgreSQL connector), the five DAX measures driving KPI cards and dynamic aggregation, and the four synchronized slicers that let stakeholders self-serve without writing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wireframe illustrates the real dashboard's layout: four KPI cards on top, then Revenue-by-Gender, Subscriber donut+matrix, Age-Group revenue, and Repeat-Buyers stacked bar. Emphasize the BI design principles on the right — consistent color, minimal clutter, labeled data, descriptive titles.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all 8 findings from the SQL analysis, reinforced by the Power BI dashboard. These map directly to marketing, loyalty, pricing, and product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three phases together: clean data, query for insight, visualize for stakeholders. Then walk through the five forward-looking recommendations — time-series forecasting, clustering, churn modeling, geographic analysis, and A/B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and discussion. Offer to walk through any SQL query, the Python notebook, or the live Power BI dashboard in more depth if the audience wants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2EC4B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</a:t>
            </a:r>
            <a:endParaRPr lang="en-US" sz="4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Report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data analytics project — from data cleaning to business intelligence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709160"/>
            <a:ext cx="457200" cy="457200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8" name="Image 0" descr="/home/claude/build/icons/code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8006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5212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65960" y="4709160"/>
            <a:ext cx="457200" cy="457200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11" name="Image 1" descr="/home/claude/build/icons/table_2EC4B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800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5212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017520" y="4709160"/>
            <a:ext cx="457200" cy="457200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14" name="Image 2" descr="/home/claude/build/icons/database_2EC4B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8006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80360" y="5212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069080" y="4709160"/>
            <a:ext cx="457200" cy="457200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17" name="Image 3" descr="/home/claude/build/icons/desktop_2EC4B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8006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31920" y="5212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91440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5087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24128" y="1728216"/>
            <a:ext cx="420624" cy="42062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1728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00200" y="1508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Scope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587752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24128" y="2807208"/>
            <a:ext cx="420624" cy="42062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00200" y="258775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3666744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24128" y="3886200"/>
            <a:ext cx="420624" cy="42062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00200" y="36667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Cleaning (Python)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474573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24128" y="4965192"/>
            <a:ext cx="420624" cy="42062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0" name="Text 17"/>
          <p:cNvSpPr/>
          <p:nvPr/>
        </p:nvSpPr>
        <p:spPr>
          <a:xfrm>
            <a:off x="1024128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00200" y="474573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Analysis (8 Business Questions)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46520" y="15087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47688" y="1728216"/>
            <a:ext cx="420624" cy="42062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4" name="Text 21"/>
          <p:cNvSpPr/>
          <p:nvPr/>
        </p:nvSpPr>
        <p:spPr>
          <a:xfrm>
            <a:off x="6647688" y="1728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223760" y="1508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Power BI Dashboard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46520" y="2587752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647688" y="2807208"/>
            <a:ext cx="420624" cy="42062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8" name="Text 25"/>
          <p:cNvSpPr/>
          <p:nvPr/>
        </p:nvSpPr>
        <p:spPr>
          <a:xfrm>
            <a:off x="664768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223760" y="258775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Insights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446520" y="3666744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47688" y="3886200"/>
            <a:ext cx="420624" cy="420624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2" name="Text 29"/>
          <p:cNvSpPr/>
          <p:nvPr/>
        </p:nvSpPr>
        <p:spPr>
          <a:xfrm>
            <a:off x="6647688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7223760" y="36667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bul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 complete, end-to-end data analytics project centered on retail customer shopping behavior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across three phases: data cleaning (Python/Pandas), analytical querying (PostgreSQL), and BI visualization (Power BI)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includes transactional &amp; demographic records — age, gender, category, purchase amount, subscription, shipping, discounts, and ratings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extract actionable insight on spending patterns, product performance, and customer loyalty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49440" y="2194560"/>
            <a:ext cx="1280160" cy="1280160"/>
          </a:xfrm>
          <a:prstGeom prst="ellipse">
            <a:avLst/>
          </a:prstGeom>
          <a:solidFill>
            <a:srgbClr val="0B3D5C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build/icons/bro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505456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35478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pic>
        <p:nvPicPr>
          <p:cNvPr id="10" name="Image 2" descr="/home/claude/build/icons/arrow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706624"/>
            <a:ext cx="347472" cy="25603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641080" y="2194560"/>
            <a:ext cx="1280160" cy="12801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3" descr="/home/claude/build/icons/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2505456"/>
            <a:ext cx="6400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2480" y="35478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pic>
        <p:nvPicPr>
          <p:cNvPr id="14" name="Image 4" descr="/home/claude/build/icons/arrow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2706624"/>
            <a:ext cx="347472" cy="256032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0332720" y="2194560"/>
            <a:ext cx="1280160" cy="1280160"/>
          </a:xfrm>
          <a:prstGeom prst="ellipse">
            <a:avLst/>
          </a:prstGeom>
          <a:solidFill>
            <a:srgbClr val="21295C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5" descr="/home/claude/build/icons/deskto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505456"/>
            <a:ext cx="640080" cy="6400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104120" y="35478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699516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analytics pipeline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995160" y="470916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7269480" y="48463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documented in detail — </a:t>
            </a:r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code, SQL queries for 8 business questions, and the Power BI dashboard design.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Shopping Trends Dataset — a publicly available retail dataset capturing demographics, purchases, and service preferences.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377440"/>
            <a:ext cx="23317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3114446"/>
            <a:ext cx="2331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2377440"/>
            <a:ext cx="23317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383280" y="3114446"/>
            <a:ext cx="2331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22860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2377440"/>
            <a:ext cx="233172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5943600" y="3114446"/>
            <a:ext cx="2331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PER TRANSACTION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CAPTURED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2519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age, gender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item_purchased, category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purchase_amount (USD)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size, color, season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520440" y="42519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review_rating, subscription_status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shipping_type, discount_applied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previous_purchases, payment_method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frequency_of_purchases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0" y="3931920"/>
            <a:ext cx="5029200" cy="2606040"/>
          </a:xfrm>
          <a:prstGeom prst="roundRect">
            <a:avLst>
              <a:gd name="adj" fmla="val 2807"/>
            </a:avLst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/home/claude/build/icons/tab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20624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720840" y="4800600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+ behavioral + service variables in one table enable spending, loyalty, and product-performance analysis without joining external sources.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single flat table later loaded into PostgreSQL and Power BI.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broom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PHASE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Cleaning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55448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1783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103120"/>
            <a:ext cx="4526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review_rating column contained missing values (found via df.isnull().sum())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columns fully populated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contained spaces &amp; special characters (e.g. purchase_amount_(usd)), incompatible with PostgreSQL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 and promo_code_used were found to be 100% identical across all 3,900 rows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783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2103120"/>
            <a:ext cx="4526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ratings using the median rating within each product category (preserves category-specific distribution)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all column names to lowercase snake_case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purchase_amount_(usd) → purchase_amount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 redundant promo_code_used column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PHASE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600200"/>
            <a:ext cx="10515600" cy="1298448"/>
          </a:xfrm>
          <a:prstGeom prst="roundRect">
            <a:avLst>
              <a:gd name="adj" fmla="val 5634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192938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build/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08483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17465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age_group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46320" y="1746504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pd.qcut() split age into 4 equal-frequency quartiles: Young Adult, Adult, Middle Age, Senior — enabling demographic segmentation.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081528"/>
            <a:ext cx="10515600" cy="1298448"/>
          </a:xfrm>
          <a:prstGeom prst="roundRect">
            <a:avLst>
              <a:gd name="adj" fmla="val 5634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97280" y="3410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build/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5661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32278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purchase_frequency_days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846320" y="3227832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text labels (Weekly, Monthly, Fortnightly…) to numeric day counts via a dictionary, e.g. Weekly = 7, Monthly = 30, Annually = 365.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4562856"/>
            <a:ext cx="10515600" cy="1298448"/>
          </a:xfrm>
          <a:prstGeom prst="roundRect">
            <a:avLst>
              <a:gd name="adj" fmla="val 5634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97280" y="4892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build/icons/sync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504748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11680" y="47091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Exported to PostgreSQL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846320" y="4709160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DataFrame pushed to the customer table via SQLAlchemy's create_engine() and to_sql() — 3,900 rows, 20 columns written successfully.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PHASE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in PostgreSQL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business questions were formulated and answered with structured SQL queries, executed in pgAdmin 4 against the Customer_behaviour database.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194560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35915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2194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Revenue by gender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194560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35915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0880" y="2194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High-spending discount users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22960" y="3182112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05840" y="3346704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00200" y="318211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Top 5 products by rating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182112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46520" y="3346704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40880" y="318211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Avg spend by shipping type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22960" y="4169664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05840" y="433425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5" name="Text 22"/>
          <p:cNvSpPr/>
          <p:nvPr/>
        </p:nvSpPr>
        <p:spPr>
          <a:xfrm>
            <a:off x="10058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600200" y="416966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Subscriber vs. non-subscriber spend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263640" y="4169664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433425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40880" y="4169664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Top discount-driven products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822960" y="5157216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05840" y="532180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3" name="Text 30"/>
          <p:cNvSpPr/>
          <p:nvPr/>
        </p:nvSpPr>
        <p:spPr>
          <a:xfrm>
            <a:off x="100584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600200" y="515721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Repeat buyers &amp; subscriptions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263640" y="5157216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E3EEF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446520" y="532180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7" name="Text 34"/>
          <p:cNvSpPr/>
          <p:nvPr/>
        </p:nvSpPr>
        <p:spPr>
          <a:xfrm>
            <a:off x="644652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040880" y="5157216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Revenue by age group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mon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SQL FINDING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0020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16002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4523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52360" y="21945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generated nearly 2x the revenue of female customers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the dataset's gender distribution, not necessarily individual spending differences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strategic value for targeted marketing and gender-balanced acquisition campaigns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ta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Q6 · SQL FINDINGS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Behavior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6002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187452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8" name="Image 1" descr="/home/claude/build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0116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· High-Spending Discount Users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97280" y="260604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customers who used a discount (discount_applied = 'Yes') AND spent ≥ the dataset average ($59.76)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engages with promotions yet still spends above average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candidates for loyalty enrollment and premium upselling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6002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build/icons/perce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116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 · Top Discount-Driven Products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37960" y="260604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products most frequently bought only when a discount is applied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price sensitivity concentrated in specific product lines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for bundling or gradually reducing discount dependency with value-added incentives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st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SQL FINDING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Products by Rating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0020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909560" y="160020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1838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83880" y="21945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5 products score above 3.7 / 5.0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strong quality perception in specific product lines — well suited for promotional spotlighting and cross-sell campaigns.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tru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&amp; Q5 · SQL FINDINGS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&amp; Subscription Spend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Avg. Purchase by Shipping Type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78308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22960" y="4617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Express-shipping customers spend marginally more per order — speed-prioritizing shoppers may be less price-sensitive.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Subscriber vs. Non-Subscriber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120640" cy="12801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$104,038.95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Subscribed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$128,081.05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263640" y="3246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contribute less total revenue (fewer customers) but per-order spend is nearly identical — subscription value lies in volume, not order size.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SQL FINDING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Buyers &amp; Subscription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0020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16002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4523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52360" y="21945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&gt; 5 previous purchases split almost evenly between subscribers (979) and non-subscribers (1,178)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does not automatically translate into subscription uptake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pipeline — target high-frequency purchasers with deliberate conversion offers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SQL FINDING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Age Group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0020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001000" y="1600200"/>
            <a:ext cx="3337560" cy="4023360"/>
          </a:xfrm>
          <a:prstGeom prst="roundRect">
            <a:avLst>
              <a:gd name="adj" fmla="val 2192"/>
            </a:avLst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7532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75320" y="21945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&amp; Middle Age segments lead revenue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reflects greater disposable income and established spending habits. Young Adults — though numerous — spend comparatively less, suggesting a growth segment for targeted offers.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desk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PHASE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PostgreSQL table was connected to Power BI Desktop to build a single, interactive BI dashboard consolidating all eight SQL findings.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74320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304495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build/icons/syn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200400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57400" y="286207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Connection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286207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connector (Get Data &gt; Database &gt; PostgreSQL) — localhost:5432, Customer_behaviour DB, customer table, all 20 columns, 3,900 rows refreshed.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06908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97280" y="437083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build/icons/b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4526280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57400" y="418795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17720" y="418795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Average Purchase Amount, Total Customers (DISTINCTCOUNT), Subscriber Revenue, and Repeat Buyer Count — power every KPI card and chart.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539496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EEF5F7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97280" y="569671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build/icons/filt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5852160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57400" y="55138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Synchronized Slicers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617720" y="5513832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Season, Category, Gender, and Subscription Status slicers filter every visual on the canvas simultaneously.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pi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PHASE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Visuals &amp; Design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5544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178308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783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68880" y="178308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0" name="Text 7"/>
          <p:cNvSpPr/>
          <p:nvPr/>
        </p:nvSpPr>
        <p:spPr>
          <a:xfrm>
            <a:off x="2468880" y="1783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86200" y="178308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0" y="1783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0" y="178308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6345A"/>
          </a:solidFill>
          <a:ln/>
        </p:spPr>
      </p:sp>
      <p:sp>
        <p:nvSpPr>
          <p:cNvPr id="14" name="Text 11"/>
          <p:cNvSpPr/>
          <p:nvPr/>
        </p:nvSpPr>
        <p:spPr>
          <a:xfrm>
            <a:off x="5303520" y="1783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51560" y="26974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16345A"/>
          </a:solidFill>
          <a:ln/>
        </p:spPr>
      </p:sp>
      <p:pic>
        <p:nvPicPr>
          <p:cNvPr id="16" name="Image 1" descr="/home/claude/build/icons/bar_2EC4B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8803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33375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886200" y="26974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16345A"/>
          </a:solidFill>
          <a:ln/>
        </p:spPr>
      </p:sp>
      <p:pic>
        <p:nvPicPr>
          <p:cNvPr id="19" name="Image 2" descr="/home/claude/build/icons/pie_2EC4B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8803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86200" y="33375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Donut + Matrix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1051560" y="4251960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6345A"/>
          </a:solidFill>
          <a:ln/>
        </p:spPr>
      </p:sp>
      <p:pic>
        <p:nvPicPr>
          <p:cNvPr id="22" name="Image 3" descr="/home/claude/build/icons/line_2EC4B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4348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Revenue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886200" y="4251960"/>
            <a:ext cx="2697480" cy="1188720"/>
          </a:xfrm>
          <a:prstGeom prst="roundRect">
            <a:avLst>
              <a:gd name="adj" fmla="val 4615"/>
            </a:avLst>
          </a:prstGeom>
          <a:solidFill>
            <a:srgbClr val="16345A"/>
          </a:solidFill>
          <a:ln/>
        </p:spPr>
      </p:sp>
      <p:pic>
        <p:nvPicPr>
          <p:cNvPr id="25" name="Image 4" descr="/home/claude/build/icons/table_2EC4B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4348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86200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(Stacked)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822960" y="5760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dashboard layout (1366×768 canvas)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8660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086600" y="201168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navy &amp; blue color scheme aligned with the analytical tone</a:t>
            </a:r>
            <a:endParaRPr lang="en-US" sz="13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clutter — gridlines and axis labels reduced where unnecessary</a:t>
            </a:r>
            <a:endParaRPr lang="en-US" sz="13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labels enabled on all bar/column charts</a:t>
            </a:r>
            <a:endParaRPr lang="en-US" sz="13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actionable chart titles (e.g. “Revenue by Customer Gender”)</a:t>
            </a:r>
            <a:endParaRPr lang="en-US" sz="1300" dirty="0"/>
          </a:p>
          <a:p>
            <a:pPr marL="228600" indent="-228600"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sized 1366×768 for standard widescreen display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build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57200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Business Insights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429768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758952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customers generated a substantially higher share of total revenue.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Behavior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notable segment still spends above average despite using discounts — high-value, loyalty-ready customers.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Ratings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Top-rated products consistently score above 3.7/5.0, signaling strong quality perception.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Preference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Express-shipping users spend marginally more per transaction.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Subscribers &amp; non-subscribers spend almost identically per order (~$59) — value is in volume.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Buyer Loyalty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repeat buyers haven't converted to subscribers — an untapped pipeline.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 Spending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&amp; Middle Age customers generate the most revenue; Young Adults are a growth segment.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Strategic Insight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cleaning → PostgreSQL querying → Power BI visualization — a coherent pipeline turning 3,900 raw transactions into actionable findings on segmentation, marketing, subscriptions, and product strategy.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FUTURE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8" name="Image 0" descr="/home/claude/build/icons/sync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026664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880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time-series transaction dates for trend &amp; seasonal forecasting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3529584"/>
            <a:ext cx="384048" cy="384048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11" name="Image 1" descr="/home/claude/build/icons/users_2EC4B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63016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4838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clustering for data-driven customer segments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4133088"/>
            <a:ext cx="384048" cy="384048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14" name="Image 2" descr="/home/claude/build/icons/clock_2EC4B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23367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873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churn model for at-risk non-subscribers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22960" y="4736592"/>
            <a:ext cx="384048" cy="384048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17" name="Image 3" descr="/home/claude/build/icons/truck_2EC4B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83717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6908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geographic mapping visuals using the location column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22960" y="5340096"/>
            <a:ext cx="384048" cy="384048"/>
          </a:xfrm>
          <a:prstGeom prst="ellipse">
            <a:avLst/>
          </a:prstGeom>
          <a:solidFill>
            <a:srgbClr val="11324A"/>
          </a:solidFill>
          <a:ln/>
        </p:spPr>
      </p:sp>
      <p:pic>
        <p:nvPicPr>
          <p:cNvPr id="20" name="Image 4" descr="/home/claude/build/icons/percent_2EC4B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44068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2943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A/B test simulations to model targeted discount-reduction impact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Report  ·  Python  ·  Pandas  ·  PostgreSQL  ·  Power BI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Analysis Report</dc:title>
  <dc:subject>PptxGenJS Presentation</dc:subject>
  <dc:creator>Data Analytics Team</dc:creator>
  <cp:lastModifiedBy>Data Analytics Team</cp:lastModifiedBy>
  <cp:revision>1</cp:revision>
  <dcterms:created xsi:type="dcterms:W3CDTF">2026-06-27T17:12:25Z</dcterms:created>
  <dcterms:modified xsi:type="dcterms:W3CDTF">2026-06-27T17:12:25Z</dcterms:modified>
</cp:coreProperties>
</file>